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7" r:id="rId16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92B60E5-EFDE-4361-9D7C-E3075D9D01EF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877C6C-3F61-4D5C-90E1-B4EDFF2B63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146340-F9BF-4CB3-B585-6118F9C823C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C61B49-11A5-4DD8-A53A-76B0339A9F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C09224-C77A-4FA3-835F-FC7A6B69127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038842-3F02-414E-8EB4-BAA00080B95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EA1E2D-4189-40BE-899B-148E3AAF34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080A06-8065-4F84-9CED-1F39E9FDAC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0D7B73-B37B-4803-83FA-D4811D4C77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504E33-E43D-48B8-9D0D-B540E911D8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799262-659A-4C5D-9FC1-A0FC53E4009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8569DF-459F-4EBB-A2EF-6874BC7AD3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</a:t>
            </a: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49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132320" y="-1097280"/>
            <a:ext cx="3199680" cy="3199680"/>
          </a:xfrm>
          <a:prstGeom prst="ellipse">
            <a:avLst/>
          </a:prstGeom>
          <a:solidFill>
            <a:srgbClr val="c75b39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772400" y="-731520"/>
            <a:ext cx="2285280" cy="2285280"/>
          </a:xfrm>
          <a:prstGeom prst="ellipse">
            <a:avLst/>
          </a:prstGeom>
          <a:solidFill>
            <a:srgbClr val="5b8c5a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914400"/>
            <a:ext cx="685728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Inteligência Artificial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do jeito que todo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Georgia"/>
                <a:ea typeface="Georgia"/>
              </a:rPr>
              <a:t>professor entende</a:t>
            </a:r>
            <a:endParaRPr b="0" lang="pt-BR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31520" y="4389120"/>
            <a:ext cx="6857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d4a843"/>
                </a:solidFill>
                <a:latin typeface="Calibri"/>
                <a:ea typeface="Calibri"/>
              </a:rPr>
              <a:t>Assistente Pedagógico | Colégio Divino Coração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731520" y="274320"/>
            <a:ext cx="7680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Resumo </a:t>
            </a: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da </a:t>
            </a: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Metáfora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5" name="Table 0"/>
          <p:cNvGraphicFramePr/>
          <p:nvPr/>
        </p:nvGraphicFramePr>
        <p:xfrm>
          <a:off x="731520" y="1188720"/>
          <a:ext cx="7680600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4480560"/>
              </a:tblGrid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nc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ei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to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c75b39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Metáfora</a:t>
                      </a:r>
                      <a:endParaRPr b="0" lang="pt-BR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c75b39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Inteligência Artificial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In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dú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str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ia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au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to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oti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va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(to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do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set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or)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Modelo de IA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Montadora (Toyota, </a:t>
                      </a: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Ford, Fiat...)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Fe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rr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m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en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ta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de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IA 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Ge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ne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ra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tiv</a:t>
                      </a: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Carro específico (Corolla, F250, Uno ...)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Agente de IA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Carro com piloto automático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  <a:tr h="457200"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1a3a3a"/>
                          </a:solidFill>
                          <a:latin typeface="Calibri"/>
                        </a:rPr>
                        <a:t>Skill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rIns="10152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2d2d2d"/>
                          </a:solidFill>
                          <a:latin typeface="Calibri"/>
                        </a:rPr>
                        <a:t>Manual do proprietário</a:t>
                      </a:r>
                      <a:endParaRPr b="0" lang="pt-BR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101520" marR="101520">
                    <a:lnL w="6480">
                      <a:solidFill>
                        <a:srgbClr val="1a3a3a"/>
                      </a:solidFill>
                      <a:prstDash val="solid"/>
                    </a:lnL>
                    <a:lnR w="6480">
                      <a:solidFill>
                        <a:srgbClr val="1a3a3a"/>
                      </a:solidFill>
                      <a:prstDash val="solid"/>
                    </a:lnR>
                    <a:lnT w="6480">
                      <a:solidFill>
                        <a:srgbClr val="1a3a3a"/>
                      </a:solidFill>
                      <a:prstDash val="solid"/>
                    </a:lnT>
                    <a:lnB w="6480">
                      <a:solidFill>
                        <a:srgbClr val="1a3a3a"/>
                      </a:solidFill>
                      <a:prstDash val="solid"/>
                    </a:lnB>
                    <a:solidFill>
                      <a:srgbClr val="f7f3ee"/>
                    </a:solidFill>
                  </a:tcPr>
                </a:tc>
              </a:tr>
            </a:tbl>
          </a:graphicData>
        </a:graphic>
      </p:graphicFrame>
      <p:sp>
        <p:nvSpPr>
          <p:cNvPr id="16" name="Shape 5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O que é Inteligência Artificial?</a:t>
            </a:r>
            <a:endParaRPr b="0" lang="pt-BR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45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Modelos de IA = Montadoras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41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42"/>
          <p:cNvSpPr/>
          <p:nvPr/>
        </p:nvSpPr>
        <p:spPr>
          <a:xfrm>
            <a:off x="457200" y="109728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43"/>
          <p:cNvSpPr/>
          <p:nvPr/>
        </p:nvSpPr>
        <p:spPr>
          <a:xfrm>
            <a:off x="457200" y="109728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46"/>
          <p:cNvSpPr/>
          <p:nvPr/>
        </p:nvSpPr>
        <p:spPr>
          <a:xfrm>
            <a:off x="64008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OpenAI fabrica o GPT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47"/>
          <p:cNvSpPr/>
          <p:nvPr/>
        </p:nvSpPr>
        <p:spPr>
          <a:xfrm>
            <a:off x="640080" y="155448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Toyota fabrica o Corolla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44"/>
          <p:cNvSpPr/>
          <p:nvPr/>
        </p:nvSpPr>
        <p:spPr>
          <a:xfrm>
            <a:off x="4754880" y="109728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45"/>
          <p:cNvSpPr/>
          <p:nvPr/>
        </p:nvSpPr>
        <p:spPr>
          <a:xfrm>
            <a:off x="4754880" y="109728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49"/>
          <p:cNvSpPr/>
          <p:nvPr/>
        </p:nvSpPr>
        <p:spPr>
          <a:xfrm>
            <a:off x="493776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Anthropic fabrica o </a:t>
            </a: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Claude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50"/>
          <p:cNvSpPr/>
          <p:nvPr/>
        </p:nvSpPr>
        <p:spPr>
          <a:xfrm>
            <a:off x="4937760" y="155448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Fiat fabrica o Uno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46"/>
          <p:cNvSpPr/>
          <p:nvPr/>
        </p:nvSpPr>
        <p:spPr>
          <a:xfrm>
            <a:off x="457200" y="301752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47"/>
          <p:cNvSpPr/>
          <p:nvPr/>
        </p:nvSpPr>
        <p:spPr>
          <a:xfrm>
            <a:off x="457200" y="301752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52"/>
          <p:cNvSpPr/>
          <p:nvPr/>
        </p:nvSpPr>
        <p:spPr>
          <a:xfrm>
            <a:off x="64008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Google fabrica o </a:t>
            </a: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Gemini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53"/>
          <p:cNvSpPr/>
          <p:nvPr/>
        </p:nvSpPr>
        <p:spPr>
          <a:xfrm>
            <a:off x="640080" y="34747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GM fabrica o Monza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48"/>
          <p:cNvSpPr/>
          <p:nvPr/>
        </p:nvSpPr>
        <p:spPr>
          <a:xfrm>
            <a:off x="4754880" y="3017520"/>
            <a:ext cx="39315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49"/>
          <p:cNvSpPr/>
          <p:nvPr/>
        </p:nvSpPr>
        <p:spPr>
          <a:xfrm>
            <a:off x="4754880" y="3017520"/>
            <a:ext cx="54360" cy="16455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55"/>
          <p:cNvSpPr/>
          <p:nvPr/>
        </p:nvSpPr>
        <p:spPr>
          <a:xfrm>
            <a:off x="4937760" y="310896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a3a3a"/>
                </a:solidFill>
                <a:latin typeface="Georgia"/>
                <a:ea typeface="Georgia"/>
              </a:rPr>
              <a:t>DeepSeek 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56"/>
          <p:cNvSpPr/>
          <p:nvPr/>
        </p:nvSpPr>
        <p:spPr>
          <a:xfrm>
            <a:off x="4937760" y="34747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→ </a:t>
            </a:r>
            <a:r>
              <a:rPr b="0" i="1" lang="en-US" sz="1300" spc="-1" strike="noStrike">
                <a:solidFill>
                  <a:srgbClr val="c75b39"/>
                </a:solidFill>
                <a:latin typeface="Calibri"/>
                <a:ea typeface="Calibri"/>
              </a:rPr>
              <a:t>BYD fabrica o Dolphin 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1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7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Como os Modelos de IA Funcionam?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24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8"/>
          <p:cNvSpPr/>
          <p:nvPr/>
        </p:nvSpPr>
        <p:spPr>
          <a:xfrm>
            <a:off x="548640" y="1097280"/>
            <a:ext cx="5028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Diferente do que muitos pensam, a IA não "pensa" ou "entende" como uma pessoa.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Ela funciona com dois ingredientes: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25"/>
          <p:cNvSpPr/>
          <p:nvPr/>
        </p:nvSpPr>
        <p:spPr>
          <a:xfrm>
            <a:off x="548640" y="2103120"/>
            <a:ext cx="5028840" cy="63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6"/>
          <p:cNvSpPr/>
          <p:nvPr/>
        </p:nvSpPr>
        <p:spPr>
          <a:xfrm>
            <a:off x="548640" y="2103120"/>
            <a:ext cx="54360" cy="6397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2"/>
          <p:cNvSpPr/>
          <p:nvPr/>
        </p:nvSpPr>
        <p:spPr>
          <a:xfrm>
            <a:off x="777240" y="21488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a3a"/>
                </a:solidFill>
                <a:latin typeface="Calibri"/>
                <a:ea typeface="Calibri"/>
              </a:rPr>
              <a:t>1. Estatística: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O modelo foi treinado com bilhões de textos. Ele aprendeu quais palavras costumam aparecer juntas, em que ordem, em cada contexto.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29"/>
          <p:cNvSpPr/>
          <p:nvPr/>
        </p:nvSpPr>
        <p:spPr>
          <a:xfrm>
            <a:off x="548640" y="2880360"/>
            <a:ext cx="5028840" cy="63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0"/>
          <p:cNvSpPr/>
          <p:nvPr/>
        </p:nvSpPr>
        <p:spPr>
          <a:xfrm>
            <a:off x="548640" y="2880360"/>
            <a:ext cx="54360" cy="6397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3"/>
          <p:cNvSpPr/>
          <p:nvPr/>
        </p:nvSpPr>
        <p:spPr>
          <a:xfrm>
            <a:off x="777240" y="292608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a3a3a"/>
                </a:solidFill>
                <a:latin typeface="Calibri"/>
                <a:ea typeface="Calibri"/>
              </a:rPr>
              <a:t>2. Previsão: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Quando você pergunta algo, ele calcula: "qual é a palavra mais provável de vir agora?" Palavra por palavra, ele constrói a resposta.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5941800" y="1097280"/>
            <a:ext cx="2834280" cy="347436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34"/>
          <p:cNvSpPr/>
          <p:nvPr/>
        </p:nvSpPr>
        <p:spPr>
          <a:xfrm>
            <a:off x="6126480" y="128016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Na prática, a IA é uma máquina de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5"/>
          <p:cNvSpPr/>
          <p:nvPr/>
        </p:nvSpPr>
        <p:spPr>
          <a:xfrm>
            <a:off x="6031440" y="1828800"/>
            <a:ext cx="2655000" cy="69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d4a843"/>
                </a:solidFill>
                <a:latin typeface="Georgia"/>
                <a:ea typeface="Georgia"/>
              </a:rPr>
              <a:t>ADIVINHAR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36"/>
          <p:cNvSpPr/>
          <p:nvPr/>
        </p:nvSpPr>
        <p:spPr>
          <a:xfrm>
            <a:off x="6124680" y="2377440"/>
            <a:ext cx="246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a próxima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palavra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32"/>
          <p:cNvSpPr/>
          <p:nvPr/>
        </p:nvSpPr>
        <p:spPr>
          <a:xfrm>
            <a:off x="6309360" y="3200400"/>
            <a:ext cx="2102760" cy="3636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37"/>
          <p:cNvSpPr/>
          <p:nvPr/>
        </p:nvSpPr>
        <p:spPr>
          <a:xfrm>
            <a:off x="6126480" y="3291840"/>
            <a:ext cx="24685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Ela é muito boa nisso,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mas continua sendo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7f3ee"/>
                </a:solidFill>
                <a:latin typeface="Calibri"/>
                <a:ea typeface="Calibri"/>
              </a:rPr>
              <a:t>um palpite estatístico.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33"/>
          <p:cNvSpPr/>
          <p:nvPr/>
        </p:nvSpPr>
        <p:spPr>
          <a:xfrm>
            <a:off x="548640" y="3931920"/>
            <a:ext cx="5028840" cy="822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8"/>
          <p:cNvSpPr/>
          <p:nvPr/>
        </p:nvSpPr>
        <p:spPr>
          <a:xfrm>
            <a:off x="731520" y="4023360"/>
            <a:ext cx="466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75b39"/>
                </a:solidFill>
                <a:latin typeface="Calibri"/>
                <a:ea typeface="Calibri"/>
              </a:rPr>
              <a:t>Pense num corretor de texto do celular: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ele sugere a próxima palavra baseado no que você já digitou. A IA generativa faz a mesma coisa — só que em escala gigante e com muito mais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11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Como você tem usado a IA?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34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39"/>
          <p:cNvSpPr/>
          <p:nvPr/>
        </p:nvSpPr>
        <p:spPr>
          <a:xfrm>
            <a:off x="548640" y="13716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  <a:ea typeface="Georgia"/>
              </a:rPr>
              <a:t>Contexto e Regras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200" spc="-1" strike="noStrike">
                <a:solidFill>
                  <a:srgbClr val="ffffff"/>
                </a:solidFill>
                <a:latin typeface="Georgia"/>
                <a:ea typeface="Georgia"/>
              </a:rPr>
              <a:t>Instruções para a IA "adivinhar" melhor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35"/>
          <p:cNvSpPr/>
          <p:nvPr/>
        </p:nvSpPr>
        <p:spPr>
          <a:xfrm>
            <a:off x="0" y="822960"/>
            <a:ext cx="9143640" cy="3636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36"/>
          <p:cNvSpPr/>
          <p:nvPr/>
        </p:nvSpPr>
        <p:spPr>
          <a:xfrm>
            <a:off x="457200" y="1097280"/>
            <a:ext cx="3931560" cy="27428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37"/>
          <p:cNvSpPr/>
          <p:nvPr/>
        </p:nvSpPr>
        <p:spPr>
          <a:xfrm>
            <a:off x="457200" y="1097280"/>
            <a:ext cx="3931560" cy="4111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40"/>
          <p:cNvSpPr/>
          <p:nvPr/>
        </p:nvSpPr>
        <p:spPr>
          <a:xfrm>
            <a:off x="640080" y="11430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Georgia"/>
                <a:ea typeface="Georgia"/>
              </a:rPr>
              <a:t>Sem instruções, a IA "chuta"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1"/>
          <p:cNvSpPr/>
          <p:nvPr/>
        </p:nvSpPr>
        <p:spPr>
          <a:xfrm>
            <a:off x="640080" y="1645920"/>
            <a:ext cx="35658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 você perguntar "Crie uma atividade" sem contexto: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vir para qualquer série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ignorar o regimento da escola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usar linguagem inadequada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200" spc="-1" strike="noStrike">
                <a:solidFill>
                  <a:srgbClr val="2d2d2d"/>
                </a:solidFill>
                <a:latin typeface="Calibri"/>
                <a:ea typeface="Calibri"/>
              </a:rPr>
              <a:t>Pode sugerir algo contra os valores da ACSC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a5a5a"/>
                </a:solidFill>
                <a:latin typeface="Calibri"/>
                <a:ea typeface="Calibri"/>
              </a:rPr>
              <a:t>O palpite dela pode ser genérico ou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38"/>
          <p:cNvSpPr/>
          <p:nvPr/>
        </p:nvSpPr>
        <p:spPr>
          <a:xfrm>
            <a:off x="4754880" y="1097280"/>
            <a:ext cx="3931560" cy="338292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42"/>
          <p:cNvSpPr/>
          <p:nvPr/>
        </p:nvSpPr>
        <p:spPr>
          <a:xfrm>
            <a:off x="4937760" y="1188720"/>
            <a:ext cx="3565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d4a843"/>
                </a:solidFill>
                <a:latin typeface="Georgia"/>
                <a:ea typeface="Georgia"/>
              </a:rPr>
              <a:t>Como melhorar o palpite?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43"/>
          <p:cNvSpPr/>
          <p:nvPr/>
        </p:nvSpPr>
        <p:spPr>
          <a:xfrm>
            <a:off x="4937760" y="1645920"/>
            <a:ext cx="356580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Dê CONTEXTO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"Sou professor do 4º ano do Colégio Divino Coração..."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Estabeleça REGRAS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"...respeitando o PPPP da ACSC e a BNCC"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Defina o FORMATO DE SAÍDA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"Estruture em uma tabela com colunas: objetivos, atividades, recursos, avaliação"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300" spc="-1" strike="noStrike">
                <a:solidFill>
                  <a:srgbClr val="d4a843"/>
                </a:solidFill>
                <a:latin typeface="Calibri"/>
                <a:ea typeface="Calibri"/>
              </a:rPr>
              <a:t>Exija EXEMPLOS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100" spc="-1" strike="noStrike">
                <a:solidFill>
                  <a:srgbClr val="f7f3ee"/>
                </a:solidFill>
                <a:latin typeface="Calibri"/>
                <a:ea typeface="Calibri"/>
              </a:rPr>
              <a:t>"Inclua um exemplo de parecer descritivo"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Quanto mais informação você der, mais preciso será o "palpite" da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39"/>
          <p:cNvSpPr/>
          <p:nvPr/>
        </p:nvSpPr>
        <p:spPr>
          <a:xfrm>
            <a:off x="457200" y="4114800"/>
            <a:ext cx="3931560" cy="63972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44"/>
          <p:cNvSpPr/>
          <p:nvPr/>
        </p:nvSpPr>
        <p:spPr>
          <a:xfrm>
            <a:off x="457200" y="4114800"/>
            <a:ext cx="3931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d4a843"/>
                </a:solidFill>
                <a:latin typeface="Georgia"/>
                <a:ea typeface="Georgia"/>
              </a:rPr>
              <a:t>É aí que entram as SKILLS!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16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Já ouviu falar em Skill?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Skills = Manual do Proprietário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3"/>
          <p:cNvSpPr/>
          <p:nvPr/>
        </p:nvSpPr>
        <p:spPr>
          <a:xfrm>
            <a:off x="4754880" y="1097280"/>
            <a:ext cx="3931200" cy="3474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4754880" y="1097280"/>
            <a:ext cx="3931200" cy="54000"/>
          </a:xfrm>
          <a:prstGeom prst="rect">
            <a:avLst/>
          </a:prstGeom>
          <a:solidFill>
            <a:srgbClr val="5b8c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548640" y="1097280"/>
            <a:ext cx="3931200" cy="34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c75b39"/>
                </a:solidFill>
                <a:latin typeface="Calibri"/>
                <a:ea typeface="Calibri"/>
              </a:rPr>
              <a:t>Imagine que você comprou um carro novo: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Você pode apenas sentar e dirigir (funciona!), mas o manual do proprietário ensina: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Como usar cada botão e função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A maneira correta de fazer a manutenção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Procedimentos de segurança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Modos de condução específicos (estrada, cidade, off-road)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4937760" y="1280160"/>
            <a:ext cx="3565440" cy="31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5b8c5a"/>
                </a:solidFill>
                <a:latin typeface="Calibri"/>
                <a:ea typeface="Calibri"/>
              </a:rPr>
              <a:t>As Skills fazem o mesmo com a IA: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São arquivos de instrução que ensinam o modelo de IA a: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Saber quem é você e seu contexto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Seguir regras da sua escola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Usar os documentos certos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Falar como um especialista pedagógico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2d2d2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Seguir processos passo a passo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2d2d2d"/>
                </a:solidFill>
                <a:latin typeface="Calibri"/>
                <a:ea typeface="Calibri"/>
              </a:rPr>
              <a:t>Sem a skill o modelo "até funciona". Com ela, ele age como um profissional da sua área.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31520" y="274320"/>
            <a:ext cx="76802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Georgia"/>
                <a:ea typeface="Georgia"/>
              </a:rPr>
              <a:t>Mão na Massa</a:t>
            </a:r>
            <a:endParaRPr b="0" lang="pt-B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45720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9436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9436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109728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Baixe o arquivo Skill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59436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Acesse o repositório e baixe skill-assistente-pedagogico.md (link no README)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333756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8"/>
          <p:cNvSpPr/>
          <p:nvPr/>
        </p:nvSpPr>
        <p:spPr>
          <a:xfrm>
            <a:off x="347472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347472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397764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Abra o ChatGPT ou Gemini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347472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Entre no chat da plataforma que você mais usa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12"/>
          <p:cNvSpPr/>
          <p:nvPr/>
        </p:nvSpPr>
        <p:spPr>
          <a:xfrm>
            <a:off x="6217920" y="11887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3"/>
          <p:cNvSpPr/>
          <p:nvPr/>
        </p:nvSpPr>
        <p:spPr>
          <a:xfrm>
            <a:off x="6355080" y="13258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6355080" y="13258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6858000" y="13258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Carregue o arquivo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6355080" y="17830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Clique no botão de anexar e selecione o arquivo baixado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7"/>
          <p:cNvSpPr/>
          <p:nvPr/>
        </p:nvSpPr>
        <p:spPr>
          <a:xfrm>
            <a:off x="45720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8"/>
          <p:cNvSpPr/>
          <p:nvPr/>
        </p:nvSpPr>
        <p:spPr>
          <a:xfrm>
            <a:off x="59436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9"/>
          <p:cNvSpPr/>
          <p:nvPr/>
        </p:nvSpPr>
        <p:spPr>
          <a:xfrm>
            <a:off x="59436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109728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Faça um pedido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1"/>
          <p:cNvSpPr/>
          <p:nvPr/>
        </p:nvSpPr>
        <p:spPr>
          <a:xfrm>
            <a:off x="59436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Escreva algo como: "Crie um plano de aula de Ciências para o 6º ano sobre cadeia alimentar"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22"/>
          <p:cNvSpPr/>
          <p:nvPr/>
        </p:nvSpPr>
        <p:spPr>
          <a:xfrm>
            <a:off x="333756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23"/>
          <p:cNvSpPr/>
          <p:nvPr/>
        </p:nvSpPr>
        <p:spPr>
          <a:xfrm>
            <a:off x="347472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4"/>
          <p:cNvSpPr/>
          <p:nvPr/>
        </p:nvSpPr>
        <p:spPr>
          <a:xfrm>
            <a:off x="347472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25"/>
          <p:cNvSpPr/>
          <p:nvPr/>
        </p:nvSpPr>
        <p:spPr>
          <a:xfrm>
            <a:off x="397764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Refine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6"/>
          <p:cNvSpPr/>
          <p:nvPr/>
        </p:nvSpPr>
        <p:spPr>
          <a:xfrm>
            <a:off x="347472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Peça ajustes: "Coloque uma atividade lúdica" ou "Adicione um momento de oração inicial"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27"/>
          <p:cNvSpPr/>
          <p:nvPr/>
        </p:nvSpPr>
        <p:spPr>
          <a:xfrm>
            <a:off x="6217920" y="3017520"/>
            <a:ext cx="2605320" cy="1553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28"/>
          <p:cNvSpPr/>
          <p:nvPr/>
        </p:nvSpPr>
        <p:spPr>
          <a:xfrm>
            <a:off x="6355080" y="3154680"/>
            <a:ext cx="410760" cy="410760"/>
          </a:xfrm>
          <a:prstGeom prst="ellipse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29"/>
          <p:cNvSpPr/>
          <p:nvPr/>
        </p:nvSpPr>
        <p:spPr>
          <a:xfrm>
            <a:off x="6355080" y="31546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30"/>
          <p:cNvSpPr/>
          <p:nvPr/>
        </p:nvSpPr>
        <p:spPr>
          <a:xfrm>
            <a:off x="6858000" y="315468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a3a3a"/>
                </a:solidFill>
                <a:latin typeface="Georgia"/>
                <a:ea typeface="Georgia"/>
              </a:rPr>
              <a:t>Aproveite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31"/>
          <p:cNvSpPr/>
          <p:nvPr/>
        </p:nvSpPr>
        <p:spPr>
          <a:xfrm>
            <a:off x="6355080" y="3611880"/>
            <a:ext cx="23310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5a5a5a"/>
                </a:solidFill>
                <a:latin typeface="Calibri"/>
                <a:ea typeface="Calibri"/>
              </a:rPr>
              <a:t>Copie o resultado para seu plano de aula, salve ou peça um arquivo .docx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0" y="0"/>
            <a:ext cx="9143280" cy="822240"/>
          </a:xfrm>
          <a:prstGeom prst="rect">
            <a:avLst/>
          </a:prstGeom>
          <a:solidFill>
            <a:srgbClr val="1a3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13716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Georgia"/>
                <a:ea typeface="Georgia"/>
              </a:rPr>
              <a:t>Exemplo Prático com a Skill CDC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0" y="822960"/>
            <a:ext cx="9143280" cy="3600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457200" y="1097280"/>
            <a:ext cx="8228880" cy="14623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457200" y="1097280"/>
            <a:ext cx="54000" cy="1462320"/>
          </a:xfrm>
          <a:prstGeom prst="rect">
            <a:avLst/>
          </a:prstGeom>
          <a:solidFill>
            <a:srgbClr val="c75b3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731520" y="118872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a5a5a"/>
                </a:solidFill>
                <a:latin typeface="Calibri"/>
                <a:ea typeface="Calibri"/>
              </a:rPr>
              <a:t>Prompt para testar (copie e cole no chat após carregar a skill):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31520" y="1463040"/>
            <a:ext cx="77716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"Sou professor do 4º ano do Colégio Divino Coração.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Preciso de um parecer descritivo trimestral para um aluno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que está com dificuldades em leitura e interpretação de texto.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2d2d"/>
                </a:solidFill>
                <a:latin typeface="Consolas"/>
                <a:ea typeface="Consolas"/>
              </a:rPr>
              <a:t>Inclua sugestões para a família e alinhamento ao PPPP da ACSC."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7"/>
          <p:cNvSpPr/>
          <p:nvPr/>
        </p:nvSpPr>
        <p:spPr>
          <a:xfrm>
            <a:off x="457200" y="2834640"/>
            <a:ext cx="8228880" cy="1828080"/>
          </a:xfrm>
          <a:prstGeom prst="rect">
            <a:avLst/>
          </a:prstGeom>
          <a:solidFill>
            <a:srgbClr val="1a3a3a"/>
          </a:solidFill>
          <a:ln w="0">
            <a:noFill/>
          </a:ln>
          <a:effectLst>
            <a:outerShdw algn="bl" blurRad="101520" dir="81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731520" y="2926080"/>
            <a:ext cx="7771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O que a IA vai responder: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731520" y="3200400"/>
            <a:ext cx="77716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Um parecer descritivo completo nos padrões do Colégio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Alinhado ao sistema trimestral e ao PPPP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Com linguagem adequada para o boletim escolar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Sugestões pedagógicas para a família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7f3ee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7f3ee"/>
                </a:solidFill>
                <a:latin typeface="Calibri"/>
                <a:ea typeface="Calibri"/>
              </a:rPr>
              <a:t>Estratégias de intervenção em sala de aula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3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"/>
          <p:cNvSpPr/>
          <p:nvPr/>
        </p:nvSpPr>
        <p:spPr>
          <a:xfrm>
            <a:off x="-1371600" y="3200400"/>
            <a:ext cx="3656880" cy="3656880"/>
          </a:xfrm>
          <a:prstGeom prst="ellipse">
            <a:avLst/>
          </a:prstGeom>
          <a:solidFill>
            <a:srgbClr val="c75b39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7772400" y="-914400"/>
            <a:ext cx="2742480" cy="2742480"/>
          </a:xfrm>
          <a:prstGeom prst="ellipse">
            <a:avLst/>
          </a:prstGeom>
          <a:solidFill>
            <a:srgbClr val="5b8c5a">
              <a:alpha val="6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731520" y="1097280"/>
            <a:ext cx="768024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Georgia"/>
                <a:ea typeface="Georgia"/>
              </a:rPr>
              <a:t>Vamos começar?</a:t>
            </a:r>
            <a:endParaRPr b="0" lang="pt-BR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731520" y="2011680"/>
            <a:ext cx="7680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7f3ee"/>
                </a:solidFill>
                <a:latin typeface="Calibri"/>
                <a:ea typeface="Calibri"/>
              </a:rPr>
              <a:t>Baixe a skill, carregue no chat e faça seu primeiro pedido.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731520" y="2468880"/>
            <a:ext cx="76802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7f3ee"/>
                </a:solidFill>
                <a:latin typeface="Calibri"/>
                <a:ea typeface="Calibri"/>
              </a:rPr>
              <a:t>Em poucos minutos você terá um assistente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f7f3ee"/>
                </a:solidFill>
                <a:latin typeface="Calibri"/>
                <a:ea typeface="Calibri"/>
              </a:rPr>
              <a:t>pedagógico personalizado para o Colégio Divino Coração.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3200400" y="3383280"/>
            <a:ext cx="2742480" cy="36000"/>
          </a:xfrm>
          <a:prstGeom prst="rect">
            <a:avLst/>
          </a:prstGeom>
          <a:solidFill>
            <a:srgbClr val="d4a84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7"/>
          <p:cNvSpPr/>
          <p:nvPr/>
        </p:nvSpPr>
        <p:spPr>
          <a:xfrm>
            <a:off x="731520" y="3566160"/>
            <a:ext cx="76802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d4a843"/>
                </a:solidFill>
                <a:latin typeface="Calibri"/>
                <a:ea typeface="Calibri"/>
              </a:rPr>
              <a:t>Assistente Pedagógico CDC</a:t>
            </a:r>
            <a:endParaRPr b="0" lang="pt-B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C75B39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5B8C5A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Georgia"/>
              </a:defRPr>
            </a:pPr>
            <a:r>
              <a:t>Outras Ferramentas Deste Repositório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280160"/>
            <a:ext cx="7315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54864" cy="548640"/>
          </a:xfrm>
          <a:prstGeom prst="rect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A3A3A"/>
                </a:solidFill>
                <a:latin typeface="Georgia"/>
              </a:defRPr>
            </a:pPr>
            <a:r>
              <a:t>docx/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5A5A5A"/>
                </a:solidFill>
                <a:latin typeface="Calibri"/>
              </a:defRPr>
            </a:pPr>
            <a:r>
              <a:t>Cria e edita documentos Word (.docx) com formatação profissional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965960"/>
            <a:ext cx="54864" cy="548640"/>
          </a:xfrm>
          <a:prstGeom prst="rect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A3A3A"/>
                </a:solidFill>
                <a:latin typeface="Georgia"/>
              </a:defRPr>
            </a:pPr>
            <a:r>
              <a:t>xlsx/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5A5A5A"/>
                </a:solidFill>
                <a:latin typeface="Calibri"/>
              </a:defRPr>
            </a:pPr>
            <a:r>
              <a:t>Cria e edita planilhas (.xlsx, .csv) com fórmulas, gráficos e formatação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651760"/>
            <a:ext cx="54864" cy="548640"/>
          </a:xfrm>
          <a:prstGeom prst="rect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97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A3A3A"/>
                </a:solidFill>
                <a:latin typeface="Georgia"/>
              </a:defRPr>
            </a:pPr>
            <a:r>
              <a:t>pdf/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97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5A5A5A"/>
                </a:solidFill>
                <a:latin typeface="Calibri"/>
              </a:defRPr>
            </a:pPr>
            <a:r>
              <a:t>Extrai texto, combina, divide, aplica OCR e preenche formulários 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337560"/>
            <a:ext cx="7315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337560"/>
            <a:ext cx="54864" cy="548640"/>
          </a:xfrm>
          <a:prstGeom prst="rect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A3A3A"/>
                </a:solidFill>
                <a:latin typeface="Georgia"/>
              </a:defRPr>
            </a:pPr>
            <a:r>
              <a:t>pptx/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383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5A5A5A"/>
                </a:solidFill>
                <a:latin typeface="Calibri"/>
              </a:defRPr>
            </a:pPr>
            <a:r>
              <a:t>Cria e edita apresentações de slides (.pptx) com design personalizado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23360"/>
            <a:ext cx="73152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23360"/>
            <a:ext cx="54864" cy="548640"/>
          </a:xfrm>
          <a:prstGeom prst="rect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A3A3A"/>
                </a:solidFill>
                <a:latin typeface="Georgia"/>
              </a:defRPr>
            </a:pPr>
            <a:r>
              <a:t>skill-creator/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069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5A5A5A"/>
                </a:solidFill>
                <a:latin typeface="Calibri"/>
              </a:defRPr>
            </a:pPr>
            <a:r>
              <a:t>Cria, edita e testa skills com avaliação automatizada de desempenho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1">
                <a:solidFill>
                  <a:srgbClr val="D4A843"/>
                </a:solidFill>
                <a:latin typeface="Calibri"/>
              </a:defRPr>
            </a:pPr>
            <a:r>
              <a:t>Use a skill pptx/ para criar ou editar apresentações como esta!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2026-07-16T18:34:07Z</dcterms:created>
  <dc:creator>Assistente Pedagógico CDC</dc:creator>
  <dc:description/>
  <dc:language>pt-BR</dc:language>
  <cp:lastModifiedBy/>
  <dcterms:modified xsi:type="dcterms:W3CDTF">2026-07-16T15:57:49Z</dcterms:modified>
  <cp:revision>3</cp:revision>
  <dc:subject>PptxGenJS Presentation</dc:subject>
  <dc:title>IA na Sala de Aula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